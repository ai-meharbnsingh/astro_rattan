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D4AF37"/>
                </a:solidFill>
                <a:latin typeface="Calibri"/>
              </a:defRPr>
            </a:pPr>
            <a:r>
              <a:t>Astro Rattan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India's Most Comprehensive Vedic Astrology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E0B2"/>
                </a:solidFill>
                <a:latin typeface="Calibri"/>
              </a:defRPr>
            </a:pPr>
            <a:r>
              <a:t>Technical Deep-Dive + Marketing &amp; Customer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E0B2"/>
                </a:solidFill>
                <a:latin typeface="Calibri"/>
              </a:defRPr>
            </a:pPr>
            <a:r>
              <a:t>A+ Accuracy Certified  |  37 Engines  |  140 API Endpoints  |  55 Tabs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CC80"/>
                </a:solidFill>
                <a:latin typeface="Calibri"/>
              </a:defRPr>
            </a:pPr>
            <a:r>
              <a:t>April 2026  |  Confidential — For Internal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is Astro Rattan?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E0B2"/>
                </a:solidFill>
                <a:latin typeface="Calibri"/>
              </a:defRPr>
            </a:pPr>
            <a:r>
              <a:t>The Platform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Astro Rattan is a production-grade, web-based Vedic astrology platform that combines professional-grade calculation accuracy with modern interactive UX — at freemium pricing.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37 calculation engines covering Vedic, Lal Kitab, KP, Jaimini, Numerology, Vastu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140 REST API endpoints — thread-safe Swiss Ephemeris backend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55 interactive tabs (29 Kundli + 26 Lal Kitab) — React + Tailwind frontend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A+ Accuracy — 100% match with Rashtriya Panchang on 72 test cases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Bilingual (Hindi + English) with modern responsive design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Free preview (9-section popup, no login) for lead generation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Deployed on Hostinger VPS — Docker + Nginx + PostgreSQL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Astro Rattan —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Calibri"/>
              </a:defRPr>
            </a:pPr>
            <a:r>
              <a:t>Page 2 of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E0B2"/>
                </a:solidFill>
                <a:latin typeface="Calibri"/>
              </a:defRPr>
            </a:pPr>
            <a: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Technical Deep-Dive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E0B2"/>
                </a:solidFill>
                <a:latin typeface="Calibri"/>
              </a:defRPr>
            </a:pPr>
            <a:r>
              <a:t>What's built, how it works, what's pending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A+ Calculation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E0B2"/>
                </a:solidFill>
                <a:latin typeface="Calibri"/>
              </a:defRPr>
            </a:pPr>
            <a:r>
              <a:t>Validated Against National Standards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96012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Element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Match Rate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Tithi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12/12 (100%)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Swiss Ephemeris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Rashtriya Panchang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Nakshatra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12/12 (100%)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Swiss Ephemeris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Rashtriya Panchang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Yoga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12/12 (100%)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Swiss Ephemeris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Rashtriya Panchang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Planet Positions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All 9 planets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&lt;0.5 arcminute error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AstroSage + AstroTalk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KP Cusps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12/12 (100%)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Placidus exact 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AstroTalk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Dasha Periods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9/9 planets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Within 4-5 days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AstroSage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Rahu Kaal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3/3 (100%)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Exact 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Drik Panchang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Lahiri Ayanamsa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24.2243° exact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National Standard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Sunrise Method: Disc center (BIT_DISC_CENTER) — matches Rashtriya Panchang middle limb standard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Astro Rattan —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Calibri"/>
              </a:defRPr>
            </a:pPr>
            <a:r>
              <a:t>Page 4 of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37 Calculation Engines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E0B2"/>
                </a:solidFill>
                <a:latin typeface="Calibri"/>
              </a:defRPr>
            </a:pPr>
            <a:r>
              <a:t>19,200+ lines of Python — all production-grade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371600"/>
          <a:ext cx="1133856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731520"/>
                <a:gridCol w="8046720"/>
              </a:tblGrid>
              <a:tr h="3200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Engine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Lines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Features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Swiss Ephemeris 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709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Thread-safe, Lahiri ayanamsa, 9 planets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7 Dasha Systems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1,858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Vimshottari, Yogini, Kalachakra, Ashtottari, Moola, Tara, Chara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Jaimini 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758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Chara Dasha, Karakas, Arudha, Upapada, 15+ yogas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KP System + Horary 249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1,052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3-level sub-lords, Ruling Planets, full 1-249 lookup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Shadbala + Vimsopaka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1,138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6-fold strength + Saptavargiya + 20-point varga strength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Lal Kitab (basic+advanced)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1,295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26 tabs: debts, Masnui/Kayam, remedies, predictions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34 Yoga/Dosha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1,248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Panch Mahapurusha, Raja, Dhana, Manglik, Kalsarpa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Panchang + Muhurta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1,239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30+ muhurtas, Hora, Choghadiya, Hindu Calendar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Numerology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1,832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Pythagorean + Chaldean, 6 calculation types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Divisional Charts (D1-D108)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1,338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15 charts including D108 Ashtottaramsha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Mundane + Nadi + Upagrahas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1,440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13 country charts, eclipses, shadow planets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Others (9 more engines)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4,000+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Transit, Varshphal, Matching, Sade Sati, Mapping...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Astro Rattan —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Calibri"/>
              </a:defRPr>
            </a:pPr>
            <a:r>
              <a:t>Page 5 of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55 Interactive Tabs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E0B2"/>
                </a:solidFill>
                <a:latin typeface="Calibri"/>
              </a:defRPr>
            </a:pPr>
            <a:r>
              <a:t>29 Kundli Tabs + 26 Lal Kitab Tabs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45309"/>
                </a:solidFill>
                <a:latin typeface="Calibri"/>
              </a:defRPr>
            </a:pPr>
            <a:r>
              <a:t>Kundli Tabs (29)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Birth Details, Planets, Lordships, Aspects Matrix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Dasha (5 systems via DashaSelector)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Divisional Charts (D1-D108), D108 Analysis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Ashtakvarga, Shadbala, Vimsopaka (Sodashvarga)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KP System + KP Horary (1-249)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Jaimini, Yogini, Avakhada, Yoga/Dosha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Transits, Varshphal, Sade Sati, Mundane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Matching (Gun Milan), Upagrahas, Report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Chart Animation, Birth Rectification, Sarvatobhadra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45309"/>
                </a:solidFill>
                <a:latin typeface="Calibri"/>
              </a:defRPr>
            </a:pPr>
            <a:r>
              <a:t>Lal Kitab Tabs (26)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9202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Dashboard, Kundli, Teva Chart, Planets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Houses, Debts (Rin), Remedies, Remedies Tracker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Predictions, Saved Predictions, Varshphal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Career, Marriage, Health, Wealth, Relations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Advanced, Dosha, Gochar, Diagnostic Chart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Nishaniya, Rules, Sleeping Planets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Masnui Grah, Kayam Grah, Yearly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Chandra Chaalana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Astro Rattan —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Calibri"/>
              </a:defRPr>
            </a:pPr>
            <a:r>
              <a:t>Page 6 of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140 API Endpoints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E0B2"/>
                </a:solidFill>
                <a:latin typeface="Calibri"/>
              </a:defRPr>
            </a:pPr>
            <a:r>
              <a:t>18 Route Files — FastAPI + PostgreSQL + Docker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371600"/>
          <a:ext cx="11247120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14400"/>
                <a:gridCol w="640080"/>
                <a:gridCol w="8046720"/>
              </a:tblGrid>
              <a:tr h="320039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Route File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Endpoints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Auth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Functions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kundli.py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25+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JWT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Chart gen, dasha, ashtakvarga, KP, divisional, shadbala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interpretations.py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Mixed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Lagna, nakshatra, life predictions, dasha, planet-in-house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panchang.py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Daily panchang, hora, choghadiya, Hindu calendar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kp_lalkitab.py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JWT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KP cusps, Lal Kitab analysis, KP Horary 249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dasha.py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JWT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Ashtottari, Moola, Tara dasha systems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yoga_search.py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JWT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Yoga search, statistics, profile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astro_map.py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Astro-cartography, city 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numerology.py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Life path, name, mobile, house, vehicle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ai.py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JWT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Gemini-powered interpretation, horoscope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auth.py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Mixed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OTP login, register, refresh, profile, password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Others (8 files)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70+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Various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Admin, clients, feedback, horoscope, mundane, muhurat, vastu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Astro Rattan —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Calibri"/>
              </a:defRPr>
            </a:pPr>
            <a:r>
              <a:t>Page 7 of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Three-Way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E0B2"/>
                </a:solidFill>
                <a:latin typeface="Calibri"/>
              </a:defRPr>
            </a:pPr>
            <a:r>
              <a:t>AstroSage vs AstroTalk vs Astro Rattan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280160"/>
          <a:ext cx="11338560" cy="4480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5303520"/>
              </a:tblGrid>
              <a:tr h="320039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AstroSage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AstroTalk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Astro Rattan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~30%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A+ (85-90%)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Dasha Systems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Divisional Charts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 (D1+D9)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8 (D1-D16)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15 (D1-D108)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Lal Kitab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 remedies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26 tabs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KP 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Basic cusps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3-level + Horary 249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Jaimini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Full system (758 lines)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Shadbala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Full 6-fold + Vimsopaka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Yoga Detection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34 auto-detected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Sarvatobhadra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Full 9x9 grid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Birth Rectification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Event-based matching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Interpretation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Excellent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412 entries (4,576 lines)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UI/UX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PDF only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PDF only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Interactive React + SVG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2005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INR1,500/yr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Per reading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Freemium (INR999/yr Pro)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Astro Rattan —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Calibri"/>
              </a:defRPr>
            </a:pPr>
            <a:r>
              <a:t>Page 8 of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Interpretation Text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E0B2"/>
                </a:solidFill>
                <a:latin typeface="Calibri"/>
              </a:defRPr>
            </a:pPr>
            <a:r>
              <a:t>4,576 Lines — 412 Prediction Entries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371600"/>
          <a:ext cx="11429999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371600"/>
                <a:gridCol w="7498079"/>
              </a:tblGrid>
              <a:tr h="320039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Section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Entries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LAGNA_NATURE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12 signs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Personality, lucky items, physical traits per ascendant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ASCENDANT_PERSONALITY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12 x 5 keys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Overview, health, temperament, appearance, career aptitude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NAKSHATRA_INTERPRETATIONS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Classical + modern interpretation per nakshatra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NAKSHATRA_PHAL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27 x 4 = 108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Pada-specific predictions (personality, career, family, spiritual)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PLANET_IN_HOUSE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9 x 12 = 108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Auspicious + inauspicious effects per planet per house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BHAVESH_INTERPRETATIONS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12 x 12 = 144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Lord of Nth house in Mth house combinations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DASHA_INTERPRETATIONS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9 planets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General mahadasha effects per planet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MAHADASHA_DETAILED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9 x 12 = 108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Dasha effects by planet's house placement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ANTARDASHA_INTERPS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9 x 9 = 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81 Mahadasha-Antardasha combination texts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LIFE_PREDICTIONS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8 x 12 = 96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Career, health, marriage, finance, education, character...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GEMSTONE_DATA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9 planets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Stone recommendations per planet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Astro Rattan —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Calibri"/>
              </a:defRPr>
            </a:pPr>
            <a:r>
              <a:t>Page 9 of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Nobody Else Has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E0B2"/>
                </a:solidFill>
                <a:latin typeface="Calibri"/>
              </a:defRPr>
            </a:pPr>
            <a:r>
              <a:t>Unique Features — Our Competitive Moat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45309"/>
                </a:solidFill>
                <a:latin typeface="Calibri"/>
              </a:defRPr>
            </a:pPr>
            <a:r>
              <a:t>25-Tab Lal Kitab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Deepest digital implementation. Debts (Rin), Masnui/Kayam Grah, sleeping planets, prohibited remedies. No competitor has more than 3 remedies.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45309"/>
                </a:solidFill>
                <a:latin typeface="Calibri"/>
              </a:defRPr>
            </a:pPr>
            <a:r>
              <a:t>Full Jaimini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758 lines. Chara Dasha, 7 Karakas, Arudha/Upapada/Karakamsha Lagnas, Jaimini Drishti, 15+ yogas. Only web platform with this.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34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45309"/>
                </a:solidFill>
                <a:latin typeface="Calibri"/>
              </a:defRPr>
            </a:pPr>
            <a:r>
              <a:t>7 Dasha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08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Vimshottari + Yogini + Kalachakra + Ashtottari + Moola + Tara + Chara. AstroSage/AstroTalk have only 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66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45309"/>
                </a:solidFill>
                <a:latin typeface="Calibri"/>
              </a:defRPr>
            </a:pPr>
            <a:r>
              <a:t>Sarvatobhadra Chakra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40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Full 9x9 grid with Vedha calculation. Used in financial astrology. Rare even in desktop software.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97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45309"/>
                </a:solidFill>
                <a:latin typeface="Calibri"/>
              </a:defRPr>
            </a:pPr>
            <a:r>
              <a:t>Birth Time Rectification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Event-based matching with Dasha+Transit scoring. No competitor offers this on web.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45309"/>
                </a:solidFill>
                <a:latin typeface="Calibri"/>
              </a:defRPr>
            </a:pPr>
            <a:r>
              <a:t>Astro-Cartography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303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21 cities, location-based house scoring. Shows best cities for career/relationships/wealth.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Astro Rattan —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Calibri"/>
              </a:defRPr>
            </a:pPr>
            <a:r>
              <a:t>Page 10 of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E0B2"/>
                </a:solidFill>
                <a:latin typeface="Calibri"/>
              </a:defRPr>
            </a:pPr>
            <a:r>
              <a:t>Full Stack — Modern, Scalable, Production-Grade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Backend: Python 3.12 + FastAPI + Uvicorn (4 workers) + PostgreSQL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Calculation: Swiss Ephemeris (pyswisseph) — thread-safe with _SWE_LOCK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Frontend: React 18 + TypeScript + Vite + Tailwind CSS + Shadcn/UI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Charts: Interactive SVG (North Indian square) + Chart Animation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Auth: JWT + OTP (SHA256 hashed) + token_version for revocation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AI: Gemini API integration for horoscope/interpretation generation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Deployment: Docker + Nginx reverse proxy on Hostinger VPS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DB: PostgreSQL with ThreadedConnectionPool + psycopg2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Infra: Production (port 8028) + Staging (port 8029) with SSL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i18n: Full Hindi + English (4,000+ translation strings)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Astro Rattan —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Calibri"/>
              </a:defRPr>
            </a:pPr>
            <a:r>
              <a:t>Page 11 of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Overall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E0B2"/>
                </a:solidFill>
                <a:latin typeface="Calibri"/>
              </a:defRPr>
            </a:pPr>
            <a:r>
              <a:t>Astro Rattan wins 11/20 categories, 137/200 total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969264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645920"/>
                <a:gridCol w="1645920"/>
                <a:gridCol w="1828800"/>
                <a:gridCol w="2286000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AstroSage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AstroTalk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Astro Rattan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Winner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Calculation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Lal Kitab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ASTRO RATTAN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Yogini/Kalachakra Dasha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ASTRO RATTAN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Shadbala/Vimsopaka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ASTRO RATTAN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Divisional Charts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ASTRO RATTAN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KP System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TIE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Interpretation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AstroSage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Panchang/Calendar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ASTRO RATTAN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Transit/Horoscope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ASTRO RATTAN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Numerology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ASTRO RATTAN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UI/UX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ASTRO RATTAN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106/200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67/200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137/200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ASTRO RATTAN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Astro Rattan —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Calibri"/>
              </a:defRPr>
            </a:pPr>
            <a:r>
              <a:t>Page 12 of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What's Still Pending — P0 Critical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E0B2"/>
                </a:solidFill>
                <a:latin typeface="Calibri"/>
              </a:defRPr>
            </a:pPr>
            <a:r>
              <a:t>Blocks Revenue — Must Fix in 2 Weeks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2471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4114800"/>
                <a:gridCol w="411480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Gap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Effort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Pricing Page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Users can't see plans or understand 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Create /pricing with 4 tiers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P0.2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Razorpay Payment Gateway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Zero revenue without payment flow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Integrate checkout + webhooks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Freemium Gating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All features free, no upgrade incentive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Lock D3-D108, Lal Kitab, etc. behind Pro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P0.4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7-Day Pro Trial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Can't demonstrate Pro value to free users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Auto-grant trial on signup + countdown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114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C2626"/>
                </a:solidFill>
                <a:latin typeface="Calibri"/>
              </a:defRPr>
            </a:pPr>
            <a:r>
              <a:t>Bottom Line: The technical platform is 100% complete. The ONLY blockers are commercial features (payments, gating, pricing). Once these 4 items ship, revenue begins immediately.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Astro Rattan —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Calibri"/>
              </a:defRPr>
            </a:pPr>
            <a:r>
              <a:t>Page 13 of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What's Pending — P1 High + P2 Medium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E0B2"/>
                </a:solidFill>
                <a:latin typeface="Calibri"/>
              </a:defRPr>
            </a:pPr>
            <a:r>
              <a:t>Competitive Advantage + Scale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371600"/>
          <a:ext cx="11247120" cy="3520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200400"/>
                <a:gridCol w="7132320"/>
              </a:tblGrid>
              <a:tr h="32003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Gap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Accuracy Badge on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Biggest moat is invisible to users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Comparison Widget on Homepage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Users don't know we beat AstroSage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Accuracy Guarantee Page (/accuracy)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Builds trust, reduces purchase friction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Social Proof / Trust Signals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10,000+ kundlis not leveraged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PDF Reports with Accuracy Badge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Professional astrologers need certified reports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Multi-Language (Tamil, Telugu, Marathi)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60% of market speaks these languages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Mobile App / PWA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80% of Indian users are mobile-first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Astrologer Branded PDFs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Pro tier differentiation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Public API Documentation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Enterprise/B2B enablement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Institutional Exam Module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College/university market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Astro Rattan —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Calibri"/>
              </a:defRPr>
            </a:pPr>
            <a:r>
              <a:t>Page 14 of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Execution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E0B2"/>
                </a:solidFill>
                <a:latin typeface="Calibri"/>
              </a:defRPr>
            </a:pPr>
            <a:r>
              <a:t>From Code-Complete to Revenue in 6 Weeks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07899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114800"/>
                <a:gridCol w="530352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Week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Deliverable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Outcome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Week 1-2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Pricing Page + Razorpay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Users can see plans and pay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Week 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Freemium Gating + 7-Day Trial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Free users convert to paid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Week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Accuracy Badge + Comparison Widget + Trust Signals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Differentiation visible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Week 5-6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PDF Branding + Accuracy Guarantee Page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Professional credibility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Month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Multi-Language (Tamil/Telugu)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60% more addressable market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Month 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PWA / Mobile optimization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Mobile-first India users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Month 5-6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Enterprise API Docs + Institutional Module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B2B revenue stream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Astro Rattan —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Calibri"/>
              </a:defRPr>
            </a:pPr>
            <a:r>
              <a:t>Page 15 of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E0B2"/>
                </a:solidFill>
                <a:latin typeface="Calibri"/>
              </a:defRPr>
            </a:pPr>
            <a: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Marketing &amp; Customer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E0B2"/>
                </a:solidFill>
                <a:latin typeface="Calibri"/>
              </a:defRPr>
            </a:pPr>
            <a:r>
              <a:t>How to acquire, convert, and retain 2,00,000 users in 12 months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E0B2"/>
                </a:solidFill>
                <a:latin typeface="Calibri"/>
              </a:defRPr>
            </a:pPr>
            <a:r>
              <a:t>50M+ potential users, zero web competitor in Tier 1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India online astrology market: ~INR3,000 Cr annually (growing 25% YoY)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50M+ people search 'free kundli' every month on Google India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500K professional astrologers in India (most use free/desktop tools)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1,000+ astrology colleges globally (no certified teaching platform exists)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AstroSage dominates with 28% accuracy — massive quality gap to exploit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AstroTalk charges per-reading — no subscription model for serious users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Jagannatha Hora is free but Windows-only and 51% accurate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NO web platform combines A+ accuracy + Lal Kitab + Jaimini + modern UX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Our unique position: Professional-grade accuracy at consumer pricing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Astro Rattan —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Calibri"/>
              </a:defRPr>
            </a:pPr>
            <a:r>
              <a:t>Page 17 of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4 Customer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E0B2"/>
                </a:solidFill>
                <a:latin typeface="Calibri"/>
              </a:defRPr>
            </a:pPr>
            <a:r>
              <a:t>B2C Seekers → B2C Pro → B2B Institutions → B2B API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371600"/>
          <a:ext cx="1133856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86000"/>
                <a:gridCol w="731520"/>
                <a:gridCol w="1188720"/>
                <a:gridCol w="1188720"/>
                <a:gridCol w="4572000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Segment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Profile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Size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LTV/year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CAC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Message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A: Seekers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25-40, urban India + NRI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INR500-2K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INR50-100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Accurate kundli you can trust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B: Astrologers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35-60, part/full-time pros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500K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INR5K-25K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INR500-1K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Replace INR25K desktop software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C: Institutions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Colleges, societies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INR50K-5L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INR5K-10K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Certified teaching platform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D: API Partners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Matrimonial, wellness apps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INR1L-10L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INR10K-25K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140 endpoints, A+ accuracy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Astro Rattan —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Calibri"/>
              </a:defRPr>
            </a:pPr>
            <a:r>
              <a:t>Page 18 of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Pricing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E0B2"/>
                </a:solidFill>
                <a:latin typeface="Calibri"/>
              </a:defRPr>
            </a:pPr>
            <a:r>
              <a:t>5-Tier Freemium Model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371600"/>
          <a:ext cx="1124712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371600"/>
                <a:gridCol w="5029200"/>
                <a:gridCol w="3200400"/>
              </a:tblGrid>
              <a:tr h="32003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Tier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Price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Features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INR0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D1+D9 charts, basic dasha, panchang, 9-section preview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Lead generation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Seeker Pro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INR999/yr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D1-D108, 7 dashas, 26 LK tabs, 34 yogas, Jaimini, KP Horary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Serious seekers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Pro Astrologer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INR3,999/yr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All above + interpretation text + branded PDFs + CRM +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Professional astrologers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Institutional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INR75K-3L/yr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500 seats + curriculum + exams + research export + branding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Colleges/societies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Enterprise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INR3L-15L/yr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1M+ calls, 99.9% SLA, white-label, custom interpretations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Platforms/apps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029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45309"/>
                </a:solidFill>
                <a:latin typeface="Calibri"/>
              </a:defRPr>
            </a:pPr>
            <a:r>
              <a:t>Anchor: 'Parashara's Light costs INR25,000. We cost INR3,999/year — same accuracy, more features, cloud access.'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Astro Rattan —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Calibri"/>
              </a:defRPr>
            </a:pPr>
            <a:r>
              <a:t>Page 19 of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Conversion Funnel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E0B2"/>
                </a:solidFill>
                <a:latin typeface="Calibri"/>
              </a:defRPr>
            </a:pPr>
            <a:r>
              <a:t>From Google Search to Paid Subscriber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1. Google 'free kundli online' → Landing page (SEO + Google Ads)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2. Fill form (name, DOB, time, place, phone, email) → 9-section FREE preview popup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3. Phone + email captured → Email nurture sequence begins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4. User signs up → 7-day Pro trial auto-activates (full access)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5. Day 3: 'Here's what you unlocked' email (comparison: free vs pro)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6. Day 5: 'Your trial ends in 2 days' email (urgency + AstroSage comparison)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7. Day 7: Trial expires → Features lock → Upgrade prompt on every locked tab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8. Convert to Seeker Pro (INR999/year) or Pro Astrologer (INR3,999/year)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9. Post-conversion: Monthly email with transit + panchang + remedies (retention)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Target Conversion Rates: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   Visit → Free Signup: 15%  |  Signup → Trial: 100% (auto)  |  Trial → Paid: 15%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   Overall: 2.25% visitor-to-paid conversion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Astro Rattan —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Calibri"/>
              </a:defRPr>
            </a:pPr>
            <a:r>
              <a:t>Page 20 of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Campaign 1: The Accuracy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E0B2"/>
                </a:solidFill>
                <a:latin typeface="Calibri"/>
              </a:defRPr>
            </a:pPr>
            <a:r>
              <a:t>Month 1-2  |  Budget: INR2,00,000  |  Goal: Authority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Strategy: Plant the seed that free astrology apps are dangerously inaccurate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YouTube Series (4 episodes):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  Ep 1: 'Why Your Tithi Might Be Wrong' — expose AstroSage 28% accuracy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  Ep 2: 'How We Validated Against National Standards' — 72-test validation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  Ep 3: 'The 1.2-Minute Sunrise Difference' — technical depth builds trust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  Ep 4: 'Free vs Accurate: Real Cost of Wrong Panchang' — festival timing errors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Instagram: Infographic reels comparing AstroSage (28%) vs Astro Rattan (A+)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Blog: 'The Accuracy Problem in Astrology Apps' (already live at /blog)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Google Ads: 'accurate kundli online', 'best kundli calculator'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Targets: 50,000 video views  |  5,000 website visits  |  500 free signups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Astro Rattan —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Calibri"/>
              </a:defRPr>
            </a:pPr>
            <a:r>
              <a:t>Page 21 of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Campaign 2: Lal Kitab Secrets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E0B2"/>
                </a:solidFill>
                <a:latin typeface="Calibri"/>
              </a:defRPr>
            </a:pPr>
            <a:r>
              <a:t>Month 2-4  |  Budget: INR3,00,000  |  Goal: Niche Authority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Strategy: Position as THE platform for Lal Kitab — a market nobody owns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YouTube Weekly Series (10 episodes):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  'What is Masnui Grah? Hidden Artificial Planets in Your Chart'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  'Karmic Debts (Rin) — Past-Life Debts You're Paying'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  'Sleeping Planets — Why Some Planets Don't Work For You'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  'Prohibited Remedies — Dangerous Lal Kitab Combinations'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  + 6 planet-specific remedy episodes (Sun through Ketu)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Instagram: Daily remedy posts with 'Only on Astro Rattan' tag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WhatsApp: Lal Kitab remedy groups (viral sharing)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Partnerships: Lal Kitab Pundits for content collaboration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Targets: 1,00,000 video views  |  10,000 LK page visits  |  2,000 signups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Astro Rattan —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Calibri"/>
              </a:defRPr>
            </a:pPr>
            <a:r>
              <a:t>Page 22 of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Campaign 3: Replace Your Desktop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E0B2"/>
                </a:solidFill>
                <a:latin typeface="Calibri"/>
              </a:defRPr>
            </a:pPr>
            <a:r>
              <a:t>Month 3-6  |  Budget: INR5,00,000  |  Goal: B2C 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Strategy: Convert astrologers from Jagannatha Hora / Parashara's Light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Tactics: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  Conference sponsorship (2-3 astrology events)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  Direct outreach to astrologer WhatsApp groups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  'Desktop vs Cloud: Why I Switched' testimonial video series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  100 astrologers get free Pro for 6 months + 30% referral commission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Key Comparisons: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  Parashara's Light: INR25,000 one-time | No Lal Kitab | Desktop only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  Jagannatha Hora: Free | 51% accuracy | Windows only | No cloud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  Astro Rattan Pro: INR3,999/year | A+ accuracy | 26 LK tabs | Any device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Targets: 500 Pro Astrologer signups  |  50 active referral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Astro Rattan —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Calibri"/>
              </a:defRPr>
            </a:pPr>
            <a:r>
              <a:t>Page 23 of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Campaigns 4 &amp;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E0B2"/>
                </a:solidFill>
                <a:latin typeface="Calibri"/>
              </a:defRPr>
            </a:pPr>
            <a:r>
              <a:t>Festival Accuracy + Accuracy Guarantee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45309"/>
                </a:solidFill>
                <a:latin typeface="Calibri"/>
              </a:defRPr>
            </a:pPr>
            <a:r>
              <a:t>Campaign 4: Festival Accuracy (Ongoing)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Auto-generated daily panchang posts (Instagram/WhatsApp)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Festival-specific campaigns: Navratri 9-day remedies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Diwali Muhurat timing + Karwa Chauth moonrise accuracy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Direct competition with AstroSage on festival timing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Budget: INR50,000/month ongoing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Target: 10,000 daily panchang users by month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45309"/>
                </a:solidFill>
                <a:latin typeface="Calibri"/>
              </a:defRPr>
            </a:pPr>
            <a:r>
              <a:t>Campaign 5: Accuracy Guarantee (Month 4+)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8288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Offer: 'Wrong tithi = refund + INR1,000 credit'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Placement: Pricing page, checkout, emails, social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Risk: Near-zero (already 100% accurate)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Expected impact: +20% conversion rate increase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Budget: INR0 (guarantee, not advertisement)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Trust signal that no competitor can match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Astro Rattan —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Calibri"/>
              </a:defRPr>
            </a:pPr>
            <a:r>
              <a:t>Page 24 of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3-Month Content Calendar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E0B2"/>
                </a:solidFill>
                <a:latin typeface="Calibri"/>
              </a:defRPr>
            </a:pPr>
            <a:r>
              <a:t>Week-by-Week Execution Plan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1280160"/>
          <a:ext cx="877824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474720"/>
                <a:gridCol w="2560320"/>
                <a:gridCol w="2011680"/>
              </a:tblGrid>
              <a:tr h="3200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Week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Content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Channel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Goal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'Why Your Kundli Might Be Wrong'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YouTube + Blog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Authority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Daily Panchang posts begin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Instagram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Habit building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'AstroSage vs Astro Rattan' comparison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Blog + Carousel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Comparison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'25 Things Only Astro Rattan Can Do'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Instagram Reel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Features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Google Ads launch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Google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Acquisition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Lal Kitab Secrets Ep 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YouTube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Niche authority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5-6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Lal Kitab Eps 2-3 + Astrologer outreach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YouTube + WhatsApp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Growth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'Desktop vs Cloud: Why I Switched'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YouTube testimonial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B2C Pro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Pricing page live + Razorpay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Website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REVENUE START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Freemium gating + '7-Day Trial' emails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Website + Email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Conversion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10-11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Lal Kitab Eps 5-7 + Festival campaign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All channels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Retention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Month 3 review + Accuracy Guarantee launch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All channels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Optimize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Astro Rattan —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Calibri"/>
              </a:defRPr>
            </a:pPr>
            <a:r>
              <a:t>Page 25 of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12-Month KPIs &amp;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E0B2"/>
                </a:solidFill>
                <a:latin typeface="Calibri"/>
              </a:defRPr>
            </a:pPr>
            <a:r>
              <a:t>From Zero to INR12L MRR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9601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1828800"/>
                <a:gridCol w="1828800"/>
                <a:gridCol w="182880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Month 1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Month 3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Month 6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Month 12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MAU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2,00,000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Free Signups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2,000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8,000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30,000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1,00,000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Paid (Seeker Pro)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Paid (Pro Astrologer)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2,000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Institutional Licenses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API Partners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MRR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INR0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INR1,00,000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INR4,00,000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INR12,00,000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Free→Paid Conversion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Churn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&lt;8%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&lt;5%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&lt;3%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Astro Rattan —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Calibri"/>
              </a:defRPr>
            </a:pPr>
            <a:r>
              <a:t>Page 26 of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12-Month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E0B2"/>
                </a:solidFill>
                <a:latin typeface="Calibri"/>
              </a:defRPr>
            </a:pPr>
            <a:r>
              <a:t>Total: INR48,00,000  |  Expected ROI: 3x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9144000" cy="3520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2286000"/>
                <a:gridCol w="2286000"/>
              </a:tblGrid>
              <a:tr h="32003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Budget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Timeline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Content Creation (video, blog, graphics)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INR8,00,000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Months 1-12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Google Ads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INR6,00,000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Months 1-12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Instagram/Facebook 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INR8,00,000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Months 2-12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YouTube Influencer Partnerships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INR5,00,000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Months 3-12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Astrologer Outreach &amp; Incentives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INR5,00,000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Months 2-12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Conference Sponsorship (3 events)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INR6,00,000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Months 3, 6, 9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Interpretation Content (astrologer hire)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INR3,00,000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Month 1-2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Tools &amp; Subscriptions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INR2,00,000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Months 1-12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Contingency (10%)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INR5,00,000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As needed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INR48,00,000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12 months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59669"/>
                </a:solidFill>
                <a:latin typeface="Calibri"/>
              </a:defRPr>
            </a:pPr>
            <a:r>
              <a:t>Expected: INR1.44 Cr ARR by Month 12 on INR48L spend = 3x return on investment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Astro Rattan —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Calibri"/>
              </a:defRPr>
            </a:pPr>
            <a:r>
              <a:t>Page 27 of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Competitive Response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E0B2"/>
                </a:solidFill>
                <a:latin typeface="Calibri"/>
              </a:defRPr>
            </a:pPr>
            <a:r>
              <a:t>Ready-Made Answers for Every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2626"/>
                </a:solidFill>
                <a:latin typeface="Calibri"/>
              </a:defRPr>
            </a:pPr>
            <a:r>
              <a:t>"AstroSage is more popular"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Popular ≠ accurate. AstroSage has 28% accuracy vs national standards. We have A+. Their tithi is wrong 3 days out of 10.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23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2626"/>
                </a:solidFill>
                <a:latin typeface="Calibri"/>
              </a:defRPr>
            </a:pPr>
            <a:r>
              <a:t>"Jagannatha Hora is free"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JH is 51% accurate, Windows-only, no Lal Kitab. We're A+ accurate, any device, 26 LK tabs. INR83/month for 40% more accuracy + 10x features.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747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2626"/>
                </a:solidFill>
                <a:latin typeface="Calibri"/>
              </a:defRPr>
            </a:pPr>
            <a:r>
              <a:t>"Parashara's Light is the gold standard"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94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We match PL accuracy. PL costs INR25,000, one computer, no Lal Kitab. We cost INR3,999/year, everywhere, 26-tab LK + Jaimini. Same accuracy, 1/6th price.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26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2626"/>
                </a:solidFill>
                <a:latin typeface="Calibri"/>
              </a:defRPr>
            </a:pPr>
            <a:r>
              <a:t>"Why pay when free kundli exists?"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46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Our free is more accurate than others' paid. Upgrade for 15 divisional charts, 7 dasha systems, 26-tab Lal Kitab — tools even INR25,000 software doesn't have.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Astro Rattan — Confidential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Calibri"/>
              </a:defRPr>
            </a:pPr>
            <a:r>
              <a:t>Page 28 of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Revenue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E0B2"/>
                </a:solidFill>
                <a:latin typeface="Calibri"/>
              </a:defRPr>
            </a:pPr>
            <a:r>
              <a:t>Conservative → Optimistic Scenarios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371600"/>
          <a:ext cx="10515600" cy="3520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743200"/>
                <a:gridCol w="2743200"/>
              </a:tblGrid>
              <a:tr h="32003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1 Conservative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1 Optimistic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2 Target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Seeker Pro (INR999)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2,500 users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8,000 users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25,000 users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Pro Astrologer (INR3,999)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400 users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2,000 users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5,000 users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Institutional (INR75K avg)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 licenses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10 licenses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25 licenses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API (INR3L avg)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 partners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10 partners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20 partners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Seeker Revenue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INR25,00,000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INR80,00,000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INR2,50,00,000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Pro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INR16,00,000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INR80,00,000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INR2,00,00,000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Institutional Revenue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INR3,00,000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INR7,50,000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INR18,75,000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API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INR6,00,000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INR30,00,000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INR60,00,000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TOTAL ARR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INR50,00,000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INR1,97,50,000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INR5,28,75,000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Astro Rattan —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Calibri"/>
              </a:defRPr>
            </a:pPr>
            <a:r>
              <a:t>Page 29 of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D4AF37"/>
                </a:solidFill>
                <a:latin typeface="Calibri"/>
              </a:defRPr>
            </a:pPr>
            <a:r>
              <a:t>The Bottom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The technical platform is COMPLETE — 37 engines, 140 endpoints, 55 tabs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Calculation accuracy is VERIFIED — A+ grade, matching national standards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We beat every web competitor on features AND accuracy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The ONLY thing standing between us and revenue: Pricing + Payments + Gating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4 commercial features (2-week build) → revenue begins immediately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INR48L marketing budget → INR1.44Cr ARR target by Month 12 (3x ROI)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We are no longer 'another astrology app.'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We are the certified accurate alternative to professional software.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CC80"/>
                </a:solidFill>
                <a:latin typeface="Calibri"/>
              </a:defRPr>
            </a:pPr>
            <a:r>
              <a:t>astrorattan.com  |  testing.astrorattan.com  | 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